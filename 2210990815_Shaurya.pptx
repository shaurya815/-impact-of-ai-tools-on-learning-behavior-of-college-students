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 id="2147483674" r:id="rId5"/>
  </p:sldMasterIdLst>
  <p:notesMasterIdLst>
    <p:notesMasterId r:id="rId14"/>
  </p:notesMasterIdLst>
  <p:handoutMasterIdLst>
    <p:handoutMasterId r:id="rId15"/>
  </p:handoutMasterIdLst>
  <p:sldIdLst>
    <p:sldId id="256" r:id="rId6"/>
    <p:sldId id="257" r:id="rId7"/>
    <p:sldId id="270" r:id="rId8"/>
    <p:sldId id="272" r:id="rId9"/>
    <p:sldId id="269" r:id="rId10"/>
    <p:sldId id="271" r:id="rId11"/>
    <p:sldId id="274" r:id="rId12"/>
    <p:sldId id="268" r:id="rId13"/>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1CB1E7-30D0-4005-A10E-D1FC0EA7791D}" v="2" dt="2026-05-18T05:21:04.400"/>
    <p1510:client id="{D047C4A6-0EEE-440F-8579-B05213C24B13}" v="71" dt="2026-05-17T06:32:20.2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1426"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nav saini" userId="983e9a5cba92031e" providerId="LiveId" clId="{95A47D44-A6F2-4083-BA07-CAA32424D2B0}"/>
    <pc:docChg chg="undo custSel delSld modSld">
      <pc:chgData name="Abhinav saini" userId="983e9a5cba92031e" providerId="LiveId" clId="{95A47D44-A6F2-4083-BA07-CAA32424D2B0}" dt="2026-05-18T05:37:52.912" v="1023" actId="20577"/>
      <pc:docMkLst>
        <pc:docMk/>
      </pc:docMkLst>
      <pc:sldChg chg="modSp mod">
        <pc:chgData name="Abhinav saini" userId="983e9a5cba92031e" providerId="LiveId" clId="{95A47D44-A6F2-4083-BA07-CAA32424D2B0}" dt="2026-05-18T05:37:52.912" v="1023" actId="20577"/>
        <pc:sldMkLst>
          <pc:docMk/>
          <pc:sldMk cId="0" sldId="256"/>
        </pc:sldMkLst>
        <pc:spChg chg="mod">
          <ac:chgData name="Abhinav saini" userId="983e9a5cba92031e" providerId="LiveId" clId="{95A47D44-A6F2-4083-BA07-CAA32424D2B0}" dt="2026-05-18T05:37:52.912" v="1023" actId="20577"/>
          <ac:spMkLst>
            <pc:docMk/>
            <pc:sldMk cId="0" sldId="256"/>
            <ac:spMk id="4" creationId="{00000000-0000-0000-0000-000000000000}"/>
          </ac:spMkLst>
        </pc:spChg>
      </pc:sldChg>
      <pc:sldChg chg="modSp mod">
        <pc:chgData name="Abhinav saini" userId="983e9a5cba92031e" providerId="LiveId" clId="{95A47D44-A6F2-4083-BA07-CAA32424D2B0}" dt="2026-05-17T07:14:12.150" v="539" actId="20577"/>
        <pc:sldMkLst>
          <pc:docMk/>
          <pc:sldMk cId="0" sldId="257"/>
        </pc:sldMkLst>
        <pc:spChg chg="mod">
          <ac:chgData name="Abhinav saini" userId="983e9a5cba92031e" providerId="LiveId" clId="{95A47D44-A6F2-4083-BA07-CAA32424D2B0}" dt="2026-05-17T07:14:12.150" v="539" actId="20577"/>
          <ac:spMkLst>
            <pc:docMk/>
            <pc:sldMk cId="0" sldId="257"/>
            <ac:spMk id="5" creationId="{00000000-0000-0000-0000-000000000000}"/>
          </ac:spMkLst>
        </pc:spChg>
      </pc:sldChg>
      <pc:sldChg chg="modSp mod">
        <pc:chgData name="Abhinav saini" userId="983e9a5cba92031e" providerId="LiveId" clId="{95A47D44-A6F2-4083-BA07-CAA32424D2B0}" dt="2026-05-17T06:30:38.819" v="519" actId="20577"/>
        <pc:sldMkLst>
          <pc:docMk/>
          <pc:sldMk cId="688233573" sldId="269"/>
        </pc:sldMkLst>
        <pc:spChg chg="mod">
          <ac:chgData name="Abhinav saini" userId="983e9a5cba92031e" providerId="LiveId" clId="{95A47D44-A6F2-4083-BA07-CAA32424D2B0}" dt="2026-05-16T18:41:48.672" v="389"/>
          <ac:spMkLst>
            <pc:docMk/>
            <pc:sldMk cId="688233573" sldId="269"/>
            <ac:spMk id="2" creationId="{1D1EB2EE-CEEA-A4EC-4F3B-60BA601304FE}"/>
          </ac:spMkLst>
        </pc:spChg>
        <pc:spChg chg="mod">
          <ac:chgData name="Abhinav saini" userId="983e9a5cba92031e" providerId="LiveId" clId="{95A47D44-A6F2-4083-BA07-CAA32424D2B0}" dt="2026-05-17T06:30:38.819" v="519" actId="20577"/>
          <ac:spMkLst>
            <pc:docMk/>
            <pc:sldMk cId="688233573" sldId="269"/>
            <ac:spMk id="4" creationId="{2EA55B31-4F1F-B4B2-F83C-D53C041C6BCD}"/>
          </ac:spMkLst>
        </pc:spChg>
      </pc:sldChg>
      <pc:sldChg chg="modSp mod">
        <pc:chgData name="Abhinav saini" userId="983e9a5cba92031e" providerId="LiveId" clId="{95A47D44-A6F2-4083-BA07-CAA32424D2B0}" dt="2026-05-17T07:14:35.939" v="549" actId="123"/>
        <pc:sldMkLst>
          <pc:docMk/>
          <pc:sldMk cId="3041078539" sldId="270"/>
        </pc:sldMkLst>
        <pc:spChg chg="mod">
          <ac:chgData name="Abhinav saini" userId="983e9a5cba92031e" providerId="LiveId" clId="{95A47D44-A6F2-4083-BA07-CAA32424D2B0}" dt="2026-05-16T18:37:33.589" v="321" actId="20577"/>
          <ac:spMkLst>
            <pc:docMk/>
            <pc:sldMk cId="3041078539" sldId="270"/>
            <ac:spMk id="2" creationId="{B2EF9167-8193-88B0-2608-EA290FF499B4}"/>
          </ac:spMkLst>
        </pc:spChg>
        <pc:spChg chg="mod">
          <ac:chgData name="Abhinav saini" userId="983e9a5cba92031e" providerId="LiveId" clId="{95A47D44-A6F2-4083-BA07-CAA32424D2B0}" dt="2026-05-17T07:14:35.939" v="549" actId="123"/>
          <ac:spMkLst>
            <pc:docMk/>
            <pc:sldMk cId="3041078539" sldId="270"/>
            <ac:spMk id="4" creationId="{D14D9DDB-74E4-F5D2-B4AE-1ED13496187E}"/>
          </ac:spMkLst>
        </pc:spChg>
      </pc:sldChg>
      <pc:sldChg chg="modSp mod">
        <pc:chgData name="Abhinav saini" userId="983e9a5cba92031e" providerId="LiveId" clId="{95A47D44-A6F2-4083-BA07-CAA32424D2B0}" dt="2026-05-17T07:16:57.097" v="555" actId="20577"/>
        <pc:sldMkLst>
          <pc:docMk/>
          <pc:sldMk cId="4006735529" sldId="271"/>
        </pc:sldMkLst>
        <pc:spChg chg="mod">
          <ac:chgData name="Abhinav saini" userId="983e9a5cba92031e" providerId="LiveId" clId="{95A47D44-A6F2-4083-BA07-CAA32424D2B0}" dt="2026-05-17T06:31:25.155" v="521" actId="2711"/>
          <ac:spMkLst>
            <pc:docMk/>
            <pc:sldMk cId="4006735529" sldId="271"/>
            <ac:spMk id="2" creationId="{4E55082B-13B5-9D83-7BAB-EFC947207153}"/>
          </ac:spMkLst>
        </pc:spChg>
        <pc:spChg chg="mod">
          <ac:chgData name="Abhinav saini" userId="983e9a5cba92031e" providerId="LiveId" clId="{95A47D44-A6F2-4083-BA07-CAA32424D2B0}" dt="2026-05-17T07:16:57.097" v="555" actId="20577"/>
          <ac:spMkLst>
            <pc:docMk/>
            <pc:sldMk cId="4006735529" sldId="271"/>
            <ac:spMk id="4" creationId="{F081DB36-865B-04B8-840C-F1E5D828C183}"/>
          </ac:spMkLst>
        </pc:spChg>
      </pc:sldChg>
      <pc:sldChg chg="modSp mod">
        <pc:chgData name="Abhinav saini" userId="983e9a5cba92031e" providerId="LiveId" clId="{95A47D44-A6F2-4083-BA07-CAA32424D2B0}" dt="2026-05-17T07:15:40.661" v="554" actId="20577"/>
        <pc:sldMkLst>
          <pc:docMk/>
          <pc:sldMk cId="2331460869" sldId="272"/>
        </pc:sldMkLst>
        <pc:spChg chg="mod">
          <ac:chgData name="Abhinav saini" userId="983e9a5cba92031e" providerId="LiveId" clId="{95A47D44-A6F2-4083-BA07-CAA32424D2B0}" dt="2026-05-17T07:15:40.661" v="554" actId="20577"/>
          <ac:spMkLst>
            <pc:docMk/>
            <pc:sldMk cId="2331460869" sldId="272"/>
            <ac:spMk id="3" creationId="{FE4BC8AA-BCB0-5CA9-E0BC-9C94387CE9B0}"/>
          </ac:spMkLst>
        </pc:spChg>
      </pc:sldChg>
      <pc:sldChg chg="modSp del mod">
        <pc:chgData name="Abhinav saini" userId="983e9a5cba92031e" providerId="LiveId" clId="{95A47D44-A6F2-4083-BA07-CAA32424D2B0}" dt="2026-05-17T06:36:56.056" v="528" actId="2696"/>
        <pc:sldMkLst>
          <pc:docMk/>
          <pc:sldMk cId="2943969810" sldId="273"/>
        </pc:sldMkLst>
      </pc:sldChg>
      <pc:sldChg chg="modSp mod">
        <pc:chgData name="Abhinav saini" userId="983e9a5cba92031e" providerId="LiveId" clId="{95A47D44-A6F2-4083-BA07-CAA32424D2B0}" dt="2026-05-17T07:17:19.416" v="562" actId="20577"/>
        <pc:sldMkLst>
          <pc:docMk/>
          <pc:sldMk cId="110029057" sldId="274"/>
        </pc:sldMkLst>
        <pc:spChg chg="mod">
          <ac:chgData name="Abhinav saini" userId="983e9a5cba92031e" providerId="LiveId" clId="{95A47D44-A6F2-4083-BA07-CAA32424D2B0}" dt="2026-05-17T07:17:19.416" v="562" actId="20577"/>
          <ac:spMkLst>
            <pc:docMk/>
            <pc:sldMk cId="110029057" sldId="274"/>
            <ac:spMk id="3" creationId="{3FAE159F-68EC-5E12-3A91-9CF5A9ADBEC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5/18/2026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5/18/2026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itkar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6DDB5-D18D-1374-00F7-A254A9F6EAAB}"/>
              </a:ext>
            </a:extLst>
          </p:cNvPr>
          <p:cNvSpPr>
            <a:spLocks noGrp="1"/>
          </p:cNvSpPr>
          <p:nvPr>
            <p:ph type="title"/>
          </p:nvPr>
        </p:nvSpPr>
        <p:spPr/>
        <p:txBody>
          <a:bodyPr/>
          <a:lstStyle/>
          <a:p>
            <a:r>
              <a:rPr lang="en-US" dirty="0"/>
              <a:t>Click to edit Master title style</a:t>
            </a:r>
            <a:endParaRPr lang="en-IN" dirty="0"/>
          </a:p>
        </p:txBody>
      </p:sp>
      <p:sp>
        <p:nvSpPr>
          <p:cNvPr id="3" name="Date Placeholder 2">
            <a:extLst>
              <a:ext uri="{FF2B5EF4-FFF2-40B4-BE49-F238E27FC236}">
                <a16:creationId xmlns:a16="http://schemas.microsoft.com/office/drawing/2014/main" id="{16E2036B-9DA1-37E6-A576-12F67BADC6FA}"/>
              </a:ext>
            </a:extLst>
          </p:cNvPr>
          <p:cNvSpPr>
            <a:spLocks noGrp="1"/>
          </p:cNvSpPr>
          <p:nvPr>
            <p:ph type="dt" idx="10"/>
          </p:nvPr>
        </p:nvSpPr>
        <p:spPr>
          <a:xfrm>
            <a:off x="69633" y="6562107"/>
            <a:ext cx="2133360" cy="364680"/>
          </a:xfrm>
        </p:spPr>
        <p:txBody>
          <a:bodyPr/>
          <a:lstStyle/>
          <a:p>
            <a:pPr>
              <a:lnSpc>
                <a:spcPct val="100000"/>
              </a:lnSpc>
            </a:pPr>
            <a:fld id="{94037556-9E8A-4092-B698-C7B51BCB8D66}" type="datetime1">
              <a:rPr lang="en-US" sz="1200" b="0" strike="noStrike" spc="-1" smtClean="0">
                <a:latin typeface="Times New Roman"/>
              </a:rPr>
              <a:t>5/18/2026</a:t>
            </a:fld>
            <a:endParaRPr lang="en-GB" sz="1200" b="0" strike="noStrike" spc="-1">
              <a:latin typeface="Times New Roman"/>
            </a:endParaRPr>
          </a:p>
        </p:txBody>
      </p:sp>
      <p:sp>
        <p:nvSpPr>
          <p:cNvPr id="4" name="Footer Placeholder 3">
            <a:extLst>
              <a:ext uri="{FF2B5EF4-FFF2-40B4-BE49-F238E27FC236}">
                <a16:creationId xmlns:a16="http://schemas.microsoft.com/office/drawing/2014/main" id="{EA466EA5-0EC7-9480-2156-C28EAD7D33EE}"/>
              </a:ext>
            </a:extLst>
          </p:cNvPr>
          <p:cNvSpPr>
            <a:spLocks noGrp="1"/>
          </p:cNvSpPr>
          <p:nvPr>
            <p:ph type="ftr" idx="11"/>
          </p:nvPr>
        </p:nvSpPr>
        <p:spPr>
          <a:xfrm>
            <a:off x="3124079" y="6566396"/>
            <a:ext cx="3577504" cy="364680"/>
          </a:xfrm>
        </p:spPr>
        <p:txBody>
          <a:bodyPr/>
          <a:lstStyle/>
          <a:p>
            <a:r>
              <a:rPr lang="en-US" spc="-1">
                <a:latin typeface="Times New Roman"/>
              </a:rPr>
              <a:t>CO-OP project at Industry (Module-1)/22CS411</a:t>
            </a:r>
            <a:endParaRPr lang="en-GB" sz="1200" spc="-1" dirty="0">
              <a:latin typeface="Times New Roman"/>
            </a:endParaRPr>
          </a:p>
        </p:txBody>
      </p:sp>
      <p:sp>
        <p:nvSpPr>
          <p:cNvPr id="5" name="Slide Number Placeholder 4">
            <a:extLst>
              <a:ext uri="{FF2B5EF4-FFF2-40B4-BE49-F238E27FC236}">
                <a16:creationId xmlns:a16="http://schemas.microsoft.com/office/drawing/2014/main" id="{7CEBDB50-CE80-19E7-5B74-8A9B3ADBFE68}"/>
              </a:ext>
            </a:extLst>
          </p:cNvPr>
          <p:cNvSpPr>
            <a:spLocks noGrp="1"/>
          </p:cNvSpPr>
          <p:nvPr>
            <p:ph type="sldNum" idx="12"/>
          </p:nvPr>
        </p:nvSpPr>
        <p:spPr>
          <a:xfrm>
            <a:off x="7010640" y="6562107"/>
            <a:ext cx="2133360" cy="364680"/>
          </a:xfrm>
        </p:spPr>
        <p:txBody>
          <a:bodyPr/>
          <a:lstStyle/>
          <a:p>
            <a:pPr algn="r">
              <a:lnSpc>
                <a:spcPct val="100000"/>
              </a:lnSpc>
            </a:pPr>
            <a:fld id="{1CFDC92E-FF5D-4613-8499-B15BC16E50D9}" type="slidenum">
              <a:rPr lang="en-US" sz="1200" b="0" strike="noStrike" spc="-1" smtClean="0">
                <a:solidFill>
                  <a:srgbClr val="898989"/>
                </a:solidFill>
                <a:latin typeface="Calibri"/>
                <a:ea typeface="MS PGothic"/>
              </a:rPr>
              <a:pPr algn="r">
                <a:lnSpc>
                  <a:spcPct val="100000"/>
                </a:lnSpc>
              </a:pPr>
              <a:t>‹#›</a:t>
            </a:fld>
            <a:endParaRPr lang="en-GB" sz="1200" b="0" strike="noStrike" spc="-1" dirty="0">
              <a:latin typeface="Times New Roman"/>
            </a:endParaRPr>
          </a:p>
        </p:txBody>
      </p:sp>
    </p:spTree>
    <p:extLst>
      <p:ext uri="{BB962C8B-B14F-4D97-AF65-F5344CB8AC3E}">
        <p14:creationId xmlns:p14="http://schemas.microsoft.com/office/powerpoint/2010/main" val="2158773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itkar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6DDB5-D18D-1374-00F7-A254A9F6EAAB}"/>
              </a:ext>
            </a:extLst>
          </p:cNvPr>
          <p:cNvSpPr>
            <a:spLocks noGrp="1"/>
          </p:cNvSpPr>
          <p:nvPr>
            <p:ph type="title"/>
          </p:nvPr>
        </p:nvSpPr>
        <p:spPr/>
        <p:txBody>
          <a:bodyPr/>
          <a:lstStyle/>
          <a:p>
            <a:r>
              <a:rPr lang="en-US" dirty="0"/>
              <a:t>Click to edit Master title style</a:t>
            </a:r>
            <a:endParaRPr lang="en-IN" dirty="0"/>
          </a:p>
        </p:txBody>
      </p:sp>
      <p:sp>
        <p:nvSpPr>
          <p:cNvPr id="3" name="Date Placeholder 2">
            <a:extLst>
              <a:ext uri="{FF2B5EF4-FFF2-40B4-BE49-F238E27FC236}">
                <a16:creationId xmlns:a16="http://schemas.microsoft.com/office/drawing/2014/main" id="{16E2036B-9DA1-37E6-A576-12F67BADC6FA}"/>
              </a:ext>
            </a:extLst>
          </p:cNvPr>
          <p:cNvSpPr>
            <a:spLocks noGrp="1"/>
          </p:cNvSpPr>
          <p:nvPr>
            <p:ph type="dt" idx="10"/>
          </p:nvPr>
        </p:nvSpPr>
        <p:spPr>
          <a:xfrm>
            <a:off x="69633" y="6562107"/>
            <a:ext cx="2133360" cy="36468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037556-9E8A-4092-B698-C7B51BCB8D66}" type="datetime1">
              <a:rPr kumimoji="0" lang="en-US" sz="1200" b="0" i="0" u="none" strike="noStrike" kern="1200" cap="none" spc="-1" normalizeH="0" baseline="0" noProof="0" smtClean="0">
                <a:ln>
                  <a:noFill/>
                </a:ln>
                <a:solidFill>
                  <a:prstClr val="black"/>
                </a:solidFill>
                <a:effectLst/>
                <a:uLnTx/>
                <a:uFillTx/>
                <a:latin typeface="Times New Roman"/>
              </a:rPr>
              <a:pPr marL="0" marR="0" lvl="0" indent="0" algn="l" defTabSz="914400" rtl="0" eaLnBrk="1" fontAlgn="auto" latinLnBrk="0" hangingPunct="1">
                <a:lnSpc>
                  <a:spcPct val="100000"/>
                </a:lnSpc>
                <a:spcBef>
                  <a:spcPts val="0"/>
                </a:spcBef>
                <a:spcAft>
                  <a:spcPts val="0"/>
                </a:spcAft>
                <a:buClrTx/>
                <a:buSzTx/>
                <a:buFontTx/>
                <a:buNone/>
                <a:tabLst/>
                <a:defRPr/>
              </a:pPr>
              <a:t>5/18/2026</a:t>
            </a:fld>
            <a:endParaRPr kumimoji="0" lang="en-GB" sz="1200" b="0" i="0" u="none" strike="noStrike" kern="1200" cap="none" spc="-1" normalizeH="0" baseline="0" noProof="0">
              <a:ln>
                <a:noFill/>
              </a:ln>
              <a:solidFill>
                <a:prstClr val="black"/>
              </a:solidFill>
              <a:effectLst/>
              <a:uLnTx/>
              <a:uFillTx/>
              <a:latin typeface="Times New Roman"/>
            </a:endParaRPr>
          </a:p>
        </p:txBody>
      </p:sp>
      <p:sp>
        <p:nvSpPr>
          <p:cNvPr id="4" name="Footer Placeholder 3">
            <a:extLst>
              <a:ext uri="{FF2B5EF4-FFF2-40B4-BE49-F238E27FC236}">
                <a16:creationId xmlns:a16="http://schemas.microsoft.com/office/drawing/2014/main" id="{EA466EA5-0EC7-9480-2156-C28EAD7D33EE}"/>
              </a:ext>
            </a:extLst>
          </p:cNvPr>
          <p:cNvSpPr>
            <a:spLocks noGrp="1"/>
          </p:cNvSpPr>
          <p:nvPr>
            <p:ph type="ftr" idx="11"/>
          </p:nvPr>
        </p:nvSpPr>
        <p:spPr>
          <a:xfrm>
            <a:off x="3124079" y="6566396"/>
            <a:ext cx="3577504" cy="36468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 normalizeH="0" baseline="0" noProof="0">
                <a:ln>
                  <a:noFill/>
                </a:ln>
                <a:solidFill>
                  <a:prstClr val="black"/>
                </a:solidFill>
                <a:effectLst/>
                <a:uLnTx/>
                <a:uFillTx/>
                <a:latin typeface="Times New Roman"/>
              </a:rPr>
              <a:t>CO-OP project at Industry (Module-1)/22CS411</a:t>
            </a:r>
            <a:endParaRPr kumimoji="0" lang="en-GB" sz="1200" b="0" i="0" u="none" strike="noStrike" kern="1200" cap="none" spc="-1" normalizeH="0" baseline="0" noProof="0" dirty="0">
              <a:ln>
                <a:noFill/>
              </a:ln>
              <a:solidFill>
                <a:prstClr val="black"/>
              </a:solidFill>
              <a:effectLst/>
              <a:uLnTx/>
              <a:uFillTx/>
              <a:latin typeface="Times New Roman"/>
            </a:endParaRPr>
          </a:p>
        </p:txBody>
      </p:sp>
      <p:sp>
        <p:nvSpPr>
          <p:cNvPr id="5" name="Slide Number Placeholder 4">
            <a:extLst>
              <a:ext uri="{FF2B5EF4-FFF2-40B4-BE49-F238E27FC236}">
                <a16:creationId xmlns:a16="http://schemas.microsoft.com/office/drawing/2014/main" id="{7CEBDB50-CE80-19E7-5B74-8A9B3ADBFE68}"/>
              </a:ext>
            </a:extLst>
          </p:cNvPr>
          <p:cNvSpPr>
            <a:spLocks noGrp="1"/>
          </p:cNvSpPr>
          <p:nvPr>
            <p:ph type="sldNum" idx="12"/>
          </p:nvPr>
        </p:nvSpPr>
        <p:spPr>
          <a:xfrm>
            <a:off x="7010640" y="6562107"/>
            <a:ext cx="2133360" cy="36468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FDC92E-FF5D-4613-8499-B15BC16E50D9}" type="slidenum">
              <a:rPr kumimoji="0" lang="en-US" sz="1200" b="0" i="0" u="none" strike="noStrike" kern="1200" cap="none" spc="-1" normalizeH="0" baseline="0" noProof="0" smtClean="0">
                <a:ln>
                  <a:noFill/>
                </a:ln>
                <a:solidFill>
                  <a:srgbClr val="898989"/>
                </a:solidFill>
                <a:effectLst/>
                <a:uLnTx/>
                <a:uFillTx/>
                <a:latin typeface="Calibri"/>
                <a:ea typeface="MS PGothic"/>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1" normalizeH="0" baseline="0" noProof="0" dirty="0">
              <a:ln>
                <a:noFill/>
              </a:ln>
              <a:solidFill>
                <a:prstClr val="black"/>
              </a:solidFill>
              <a:effectLst/>
              <a:uLnTx/>
              <a:uFillTx/>
              <a:latin typeface="Times New Roman"/>
            </a:endParaRPr>
          </a:p>
        </p:txBody>
      </p:sp>
    </p:spTree>
    <p:extLst>
      <p:ext uri="{BB962C8B-B14F-4D97-AF65-F5344CB8AC3E}">
        <p14:creationId xmlns:p14="http://schemas.microsoft.com/office/powerpoint/2010/main" val="22149020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4.xml"/><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IN"/>
          </a:p>
        </p:txBody>
      </p:sp>
      <p:pic>
        <p:nvPicPr>
          <p:cNvPr id="2" name="Picture 10" descr="LOGO.gif"/>
          <p:cNvPicPr/>
          <p:nvPr/>
        </p:nvPicPr>
        <p:blipFill>
          <a:blip r:embed="rId5"/>
          <a:srcRect b="10718"/>
          <a:stretch/>
        </p:blipFill>
        <p:spPr>
          <a:xfrm>
            <a:off x="6553080" y="228600"/>
            <a:ext cx="2057040" cy="634680"/>
          </a:xfrm>
          <a:prstGeom prst="rect">
            <a:avLst/>
          </a:prstGeom>
          <a:ln w="9360">
            <a:noFill/>
          </a:ln>
        </p:spPr>
      </p:pic>
      <p:pic>
        <p:nvPicPr>
          <p:cNvPr id="3" name="Picture 10" descr="LOGO.gif"/>
          <p:cNvPicPr/>
          <p:nvPr/>
        </p:nvPicPr>
        <p:blipFill>
          <a:blip r:embed="rId5"/>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6" name="Picture 9" descr="LOGO.gif"/>
            <p:cNvPicPr/>
            <p:nvPr/>
          </p:nvPicPr>
          <p:blipFill>
            <a:blip r:embed="rId5"/>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8" name="Picture 15" descr="logo.jpg"/>
          <p:cNvPicPr/>
          <p:nvPr/>
        </p:nvPicPr>
        <p:blipFill>
          <a:blip r:embed="rId6"/>
          <a:stretch/>
        </p:blipFill>
        <p:spPr>
          <a:xfrm>
            <a:off x="6553080" y="228600"/>
            <a:ext cx="1920600" cy="609120"/>
          </a:xfrm>
          <a:prstGeom prst="rect">
            <a:avLst/>
          </a:prstGeom>
          <a:ln w="9360">
            <a:noFill/>
          </a:ln>
        </p:spPr>
      </p:pic>
      <p:pic>
        <p:nvPicPr>
          <p:cNvPr id="9" name="Picture 10" descr="LOGO.gif"/>
          <p:cNvPicPr/>
          <p:nvPr/>
        </p:nvPicPr>
        <p:blipFill>
          <a:blip r:embed="rId5"/>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12" name="Picture 9" descr="LOGO.gif"/>
            <p:cNvPicPr/>
            <p:nvPr/>
          </p:nvPicPr>
          <p:blipFill>
            <a:blip r:embed="rId5"/>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14" name="Picture 15" descr="logo.jpg"/>
          <p:cNvPicPr/>
          <p:nvPr/>
        </p:nvPicPr>
        <p:blipFill>
          <a:blip r:embed="rId6"/>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fld id="{3D964FCB-4B12-48F3-8EC8-4E7C43142726}" type="datetime1">
              <a:rPr lang="en-US" sz="1200" b="0" strike="noStrike" spc="-1" smtClean="0">
                <a:latin typeface="Times New Roman"/>
              </a:rPr>
              <a:t>5/18/2026</a:t>
            </a:fld>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lvl1pPr>
              <a:defRPr sz="1200"/>
            </a:lvl1pPr>
          </a:lstStyle>
          <a:p>
            <a:r>
              <a:rPr lang="en-US" spc="-1" dirty="0">
                <a:latin typeface="Times New Roman"/>
              </a:rPr>
              <a:t>CO-OP project at Industry (Module-1)/22CS411</a:t>
            </a:r>
            <a:endParaRPr lang="en-GB" sz="1200" spc="-1" dirty="0">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dirty="0">
              <a:latin typeface="Times New Roman"/>
            </a:endParaRPr>
          </a:p>
        </p:txBody>
      </p:sp>
    </p:spTree>
  </p:cSld>
  <p:clrMap bg1="lt1" tx1="dk1" bg2="lt2" tx2="dk2" accent1="accent1" accent2="accent2" accent3="accent3" accent4="accent4" accent5="accent5" accent6="accent6" hlink="hlink" folHlink="folHlink"/>
  <p:sldLayoutIdLst>
    <p:sldLayoutId id="2147483673" r:id="rId1"/>
    <p:sldLayoutId id="2147483649" r:id="rId2"/>
    <p:sldLayoutId id="2147483650"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pic>
        <p:nvPicPr>
          <p:cNvPr id="2" name="Picture 10" descr="LOGO.gif"/>
          <p:cNvPicPr/>
          <p:nvPr/>
        </p:nvPicPr>
        <p:blipFill>
          <a:blip r:embed="rId3"/>
          <a:srcRect b="10718"/>
          <a:stretch/>
        </p:blipFill>
        <p:spPr>
          <a:xfrm>
            <a:off x="6553080" y="228600"/>
            <a:ext cx="2057040" cy="634680"/>
          </a:xfrm>
          <a:prstGeom prst="rect">
            <a:avLst/>
          </a:prstGeom>
          <a:ln w="9360">
            <a:noFill/>
          </a:ln>
        </p:spPr>
      </p:pic>
      <p:pic>
        <p:nvPicPr>
          <p:cNvPr id="3" name="Picture 10" descr="LOGO.gif"/>
          <p:cNvPicPr/>
          <p:nvPr/>
        </p:nvPicPr>
        <p:blipFill>
          <a:blip r:embed="rId3"/>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pic>
          <p:nvPicPr>
            <p:cNvPr id="6" name="Picture 9" descr="LOGO.gif"/>
            <p:cNvPicPr/>
            <p:nvPr/>
          </p:nvPicPr>
          <p:blipFill>
            <a:blip r:embed="rId3"/>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grpSp>
      <p:pic>
        <p:nvPicPr>
          <p:cNvPr id="8" name="Picture 15" descr="logo.jpg"/>
          <p:cNvPicPr/>
          <p:nvPr/>
        </p:nvPicPr>
        <p:blipFill>
          <a:blip r:embed="rId4"/>
          <a:stretch/>
        </p:blipFill>
        <p:spPr>
          <a:xfrm>
            <a:off x="6553080" y="228600"/>
            <a:ext cx="1920600" cy="609120"/>
          </a:xfrm>
          <a:prstGeom prst="rect">
            <a:avLst/>
          </a:prstGeom>
          <a:ln w="9360">
            <a:noFill/>
          </a:ln>
        </p:spPr>
      </p:pic>
      <p:pic>
        <p:nvPicPr>
          <p:cNvPr id="9" name="Picture 10" descr="LOGO.gif"/>
          <p:cNvPicPr/>
          <p:nvPr/>
        </p:nvPicPr>
        <p:blipFill>
          <a:blip r:embed="rId3"/>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pic>
          <p:nvPicPr>
            <p:cNvPr id="12" name="Picture 9" descr="LOGO.gif"/>
            <p:cNvPicPr/>
            <p:nvPr/>
          </p:nvPicPr>
          <p:blipFill>
            <a:blip r:embed="rId3"/>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grpSp>
      <p:pic>
        <p:nvPicPr>
          <p:cNvPr id="14" name="Picture 15" descr="logo.jpg"/>
          <p:cNvPicPr/>
          <p:nvPr/>
        </p:nvPicPr>
        <p:blipFill>
          <a:blip r:embed="rId4"/>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D964FCB-4B12-48F3-8EC8-4E7C43142726}" type="datetime1">
              <a:rPr kumimoji="0" lang="en-US" sz="1200" b="0" i="0" u="none" strike="noStrike" kern="1200" cap="none" spc="-1" normalizeH="0" baseline="0" noProof="0" smtClean="0">
                <a:ln>
                  <a:noFill/>
                </a:ln>
                <a:solidFill>
                  <a:prstClr val="black"/>
                </a:solidFill>
                <a:effectLst/>
                <a:uLnTx/>
                <a:uFillTx/>
                <a:latin typeface="Times New Roman"/>
              </a:rPr>
              <a:pPr marL="0" marR="0" lvl="0" indent="0" algn="l" defTabSz="914400" rtl="0" eaLnBrk="1" fontAlgn="auto" latinLnBrk="0" hangingPunct="1">
                <a:lnSpc>
                  <a:spcPct val="100000"/>
                </a:lnSpc>
                <a:spcBef>
                  <a:spcPts val="0"/>
                </a:spcBef>
                <a:spcAft>
                  <a:spcPts val="0"/>
                </a:spcAft>
                <a:buClrTx/>
                <a:buSzTx/>
                <a:buFontTx/>
                <a:buNone/>
                <a:tabLst/>
                <a:defRPr/>
              </a:pPr>
              <a:t>5/18/2026</a:t>
            </a:fld>
            <a:endParaRPr kumimoji="0" lang="en-GB" sz="1200" b="0" i="0" u="none" strike="noStrike" kern="1200" cap="none" spc="-1" normalizeH="0" baseline="0" noProof="0">
              <a:ln>
                <a:noFill/>
              </a:ln>
              <a:solidFill>
                <a:prstClr val="black"/>
              </a:solidFill>
              <a:effectLst/>
              <a:uLnTx/>
              <a:uFillTx/>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lvl1pPr>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 normalizeH="0" baseline="0" noProof="0" dirty="0">
                <a:ln>
                  <a:noFill/>
                </a:ln>
                <a:solidFill>
                  <a:prstClr val="black"/>
                </a:solidFill>
                <a:effectLst/>
                <a:uLnTx/>
                <a:uFillTx/>
                <a:latin typeface="Times New Roman"/>
              </a:rPr>
              <a:t>CO-OP project at Industry (Module-1)/22CS411</a:t>
            </a:r>
            <a:endParaRPr kumimoji="0" lang="en-GB" sz="1200" b="0" i="0" u="none" strike="noStrike" kern="1200" cap="none" spc="-1" normalizeH="0" baseline="0" noProof="0" dirty="0">
              <a:ln>
                <a:noFill/>
              </a:ln>
              <a:solidFill>
                <a:prstClr val="black"/>
              </a:solidFill>
              <a:effectLst/>
              <a:uLnTx/>
              <a:uFillTx/>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FDC92E-FF5D-4613-8499-B15BC16E50D9}" type="slidenum">
              <a:rPr kumimoji="0" lang="en-US" sz="1200" b="0" i="0" u="none" strike="noStrike" kern="1200" cap="none" spc="-1" normalizeH="0" baseline="0" noProof="0">
                <a:ln>
                  <a:noFill/>
                </a:ln>
                <a:solidFill>
                  <a:srgbClr val="898989"/>
                </a:solidFill>
                <a:effectLst/>
                <a:uLnTx/>
                <a:uFillTx/>
                <a:latin typeface="Calibri"/>
                <a:ea typeface="MS PGothic"/>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1" normalizeH="0" baseline="0" noProof="0" dirty="0">
              <a:ln>
                <a:noFill/>
              </a:ln>
              <a:solidFill>
                <a:prstClr val="black"/>
              </a:solidFill>
              <a:effectLst/>
              <a:uLnTx/>
              <a:uFillTx/>
              <a:latin typeface="Times New Roman"/>
            </a:endParaRPr>
          </a:p>
        </p:txBody>
      </p:sp>
    </p:spTree>
    <p:extLst>
      <p:ext uri="{BB962C8B-B14F-4D97-AF65-F5344CB8AC3E}">
        <p14:creationId xmlns:p14="http://schemas.microsoft.com/office/powerpoint/2010/main" val="2305265420"/>
      </p:ext>
    </p:extLst>
  </p:cSld>
  <p:clrMap bg1="lt1" tx1="dk1" bg2="lt2" tx2="dk2" accent1="accent1" accent2="accent2" accent3="accent3" accent4="accent4" accent5="accent5" accent6="accent6" hlink="hlink" folHlink="folHlink"/>
  <p:sldLayoutIdLst>
    <p:sldLayoutId id="2147483675" r:id="rId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31487"/>
            <a:ext cx="9144000" cy="5717485"/>
          </a:xfrm>
          <a:prstGeom prst="rect">
            <a:avLst/>
          </a:prstGeom>
          <a:noFill/>
          <a:ln w="9360">
            <a:noFill/>
          </a:ln>
        </p:spPr>
        <p:txBody>
          <a:bodyPr>
            <a:noAutofit/>
          </a:bodyPr>
          <a:lstStyle/>
          <a:p>
            <a:pPr algn="ctr">
              <a:spcBef>
                <a:spcPts val="400"/>
              </a:spcBef>
            </a:pPr>
            <a:r>
              <a:rPr lang="en-US" dirty="0">
                <a:latin typeface="Times New Roman" panose="02020603050405020304" pitchFamily="18" charset="0"/>
                <a:ea typeface="Calibri" pitchFamily="34" charset="-122"/>
                <a:cs typeface="Times New Roman" panose="02020603050405020304" pitchFamily="18" charset="0"/>
              </a:rPr>
              <a:t>Project Presentation of CO-OP Project at Industry (Module-2) (22CS421)</a:t>
            </a:r>
          </a:p>
          <a:p>
            <a:pPr algn="ctr">
              <a:spcBef>
                <a:spcPts val="400"/>
              </a:spcBef>
            </a:pPr>
            <a:r>
              <a:rPr lang="en-US" dirty="0">
                <a:latin typeface="Times New Roman" panose="02020603050405020304" pitchFamily="18" charset="0"/>
                <a:ea typeface="Calibri" pitchFamily="34" charset="-122"/>
                <a:cs typeface="Times New Roman" panose="02020603050405020304" pitchFamily="18" charset="0"/>
              </a:rPr>
              <a:t>On</a:t>
            </a:r>
          </a:p>
          <a:p>
            <a:endParaRPr lang="en-IN" dirty="0"/>
          </a:p>
          <a:p>
            <a:pPr algn="ctr"/>
            <a:r>
              <a:rPr lang="en-US" sz="2000" dirty="0">
                <a:latin typeface="Times New Roman" panose="02020603050405020304" pitchFamily="18" charset="0"/>
                <a:cs typeface="Times New Roman" panose="02020603050405020304" pitchFamily="18" charset="0"/>
              </a:rPr>
              <a:t> Impact of AI Tools on Learning Behavior of College Students</a:t>
            </a:r>
          </a:p>
          <a:p>
            <a:pPr algn="ctr"/>
            <a:endParaRPr lang="en-US" dirty="0"/>
          </a:p>
          <a:p>
            <a:pPr algn="ctr"/>
            <a:r>
              <a:rPr lang="en-US" dirty="0"/>
              <a:t>By  </a:t>
            </a:r>
          </a:p>
          <a:p>
            <a:pPr algn="ct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Abhinav Saini    Shaurya Abrol      Sarthak Yadav     Shivangi Sisodia</a:t>
            </a:r>
          </a:p>
          <a:p>
            <a:pPr algn="ctr"/>
            <a:r>
              <a:rPr lang="en-US" sz="2000" spc="-1" dirty="0">
                <a:solidFill>
                  <a:srgbClr val="000000"/>
                </a:solidFill>
                <a:latin typeface="Times New Roman" panose="02020603050405020304" pitchFamily="18" charset="0"/>
                <a:ea typeface="MS PGothic"/>
                <a:cs typeface="Times New Roman" panose="02020603050405020304" pitchFamily="18" charset="0"/>
              </a:rPr>
              <a:t>2210990039     2210990815       2210990803        2210990828</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Gurpreet Singh, Mentor, Chitkara University</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769390" y="6592494"/>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dirty="0">
              <a:latin typeface="Times New Roman"/>
            </a:endParaRPr>
          </a:p>
        </p:txBody>
      </p:sp>
      <p:sp>
        <p:nvSpPr>
          <p:cNvPr id="5" name="TextShape 2"/>
          <p:cNvSpPr txBox="1"/>
          <p:nvPr/>
        </p:nvSpPr>
        <p:spPr>
          <a:xfrm>
            <a:off x="152640" y="643398"/>
            <a:ext cx="8838720" cy="4838571"/>
          </a:xfrm>
          <a:prstGeom prst="rect">
            <a:avLst/>
          </a:prstGeom>
          <a:noFill/>
          <a:ln w="9360">
            <a:noFill/>
          </a:ln>
        </p:spPr>
        <p:txBody>
          <a:bodyPr>
            <a:noAutofit/>
          </a:bodyPr>
          <a:lstStyle/>
          <a:p>
            <a:pPr>
              <a:lnSpc>
                <a:spcPct val="100000"/>
              </a:lnSpc>
              <a:spcBef>
                <a:spcPts val="400"/>
              </a:spcBef>
            </a:pPr>
            <a:endParaRPr lang="en-US" sz="2000" spc="-1" dirty="0">
              <a:solidFill>
                <a:srgbClr val="00000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formation of large language models (LLMs) and AI powered assistants marks one of the most significant importance educational technologies. Tools such as OpenAI’s ChatGPT, Google’s Gemini and DeepSeek research applications are making more into mainstream academic usage. Within a matter of months following the public release of ChatGPT in November 2022, surveys across multiple universities reported that a substantial proportion of students had already incorporated the tool into their coursework. </a:t>
            </a:r>
          </a:p>
          <a:p>
            <a:pPr algn="just"/>
            <a:r>
              <a:rPr lang="en-US" dirty="0">
                <a:latin typeface="Times New Roman" panose="02020603050405020304" pitchFamily="18" charset="0"/>
                <a:cs typeface="Times New Roman" panose="02020603050405020304" pitchFamily="18" charset="0"/>
              </a:rPr>
              <a:t>Earlier, students relied on knowledge sources like textbooks, lecture notes, library and teacher consultations, each having levels of effort and critical </a:t>
            </a:r>
            <a:r>
              <a:rPr lang="en-US" dirty="0" err="1">
                <a:latin typeface="Times New Roman" panose="02020603050405020304" pitchFamily="18" charset="0"/>
                <a:cs typeface="Times New Roman" panose="02020603050405020304" pitchFamily="18" charset="0"/>
              </a:rPr>
              <a:t>engagement.Despite</a:t>
            </a:r>
            <a:r>
              <a:rPr lang="en-US" dirty="0">
                <a:latin typeface="Times New Roman" panose="02020603050405020304" pitchFamily="18" charset="0"/>
                <a:cs typeface="Times New Roman" panose="02020603050405020304" pitchFamily="18" charset="0"/>
              </a:rPr>
              <a:t> this few studies have focused specifically on undergraduate students in emerging economies, where access to AI tools may interact differently with existing educational infrastructure, language barriers, and assessment cultures. This study addresses that gap by focusing on students at – a context where AI tool adoption among students has accelerated markedly since 2023. </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r>
              <a:rPr lang="en-US" sz="2000" b="0" strike="noStrike" spc="-1" dirty="0">
                <a:solidFill>
                  <a:srgbClr val="000000"/>
                </a:solidFill>
                <a:latin typeface="Times New Roman" panose="02020603050405020304" pitchFamily="18" charset="0"/>
                <a:cs typeface="Times New Roman" panose="02020603050405020304" pitchFamily="18" charset="0"/>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F9167-8193-88B0-2608-EA290FF499B4}"/>
              </a:ext>
            </a:extLst>
          </p:cNvPr>
          <p:cNvSpPr>
            <a:spLocks noGrp="1"/>
          </p:cNvSpPr>
          <p:nvPr>
            <p:ph type="title"/>
          </p:nvPr>
        </p:nvSpPr>
        <p:spPr/>
        <p:txBody>
          <a:bodyPr/>
          <a:lstStyle/>
          <a:p>
            <a:r>
              <a:rPr lang="en-US" dirty="0"/>
              <a:t>Objectives</a:t>
            </a:r>
            <a:endParaRPr lang="en-IN" dirty="0"/>
          </a:p>
        </p:txBody>
      </p:sp>
      <p:sp>
        <p:nvSpPr>
          <p:cNvPr id="4" name="Subtitle 3">
            <a:extLst>
              <a:ext uri="{FF2B5EF4-FFF2-40B4-BE49-F238E27FC236}">
                <a16:creationId xmlns:a16="http://schemas.microsoft.com/office/drawing/2014/main" id="{D14D9DDB-74E4-F5D2-B4AE-1ED13496187E}"/>
              </a:ext>
            </a:extLst>
          </p:cNvPr>
          <p:cNvSpPr>
            <a:spLocks noGrp="1"/>
          </p:cNvSpPr>
          <p:nvPr>
            <p:ph type="subTitle"/>
          </p:nvPr>
        </p:nvSpPr>
        <p:spPr>
          <a:xfrm>
            <a:off x="457380" y="1010160"/>
            <a:ext cx="8229240" cy="3977280"/>
          </a:xfrm>
        </p:spPr>
        <p:txBody>
          <a:bodyPr/>
          <a:lstStyle/>
          <a:p>
            <a:pPr marL="171450" indent="-1714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This study is done to understand how frequently students across different situations          are using AI tools in their day-to-day academic life.</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look into how AI tools are affecting the way students study, manage their time, and approach learning in general.</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find out whether using AI tools actually helps students understand their subjects better, perform well and prepare more effectively for exams.</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highlight the problems that come with AI tool usage, such as becoming too dependent on them and losing the ability to think and solve problems independently.</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suggest practical ways in which AI tools can be used responsibly.</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1078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997C3-F948-7F83-5F39-83AFE231AC7F}"/>
              </a:ext>
            </a:extLst>
          </p:cNvPr>
          <p:cNvSpPr>
            <a:spLocks noGrp="1"/>
          </p:cNvSpPr>
          <p:nvPr>
            <p:ph type="title"/>
          </p:nvPr>
        </p:nvSpPr>
        <p:spPr/>
        <p:txBody>
          <a:bodyPr/>
          <a:lstStyle/>
          <a:p>
            <a:r>
              <a:rPr lang="en-IN" dirty="0"/>
              <a:t>METHODOLOGY</a:t>
            </a:r>
          </a:p>
        </p:txBody>
      </p:sp>
      <p:sp>
        <p:nvSpPr>
          <p:cNvPr id="3" name="Subtitle 2">
            <a:extLst>
              <a:ext uri="{FF2B5EF4-FFF2-40B4-BE49-F238E27FC236}">
                <a16:creationId xmlns:a16="http://schemas.microsoft.com/office/drawing/2014/main" id="{FE4BC8AA-BCB0-5CA9-E0BC-9C94387CE9B0}"/>
              </a:ext>
            </a:extLst>
          </p:cNvPr>
          <p:cNvSpPr>
            <a:spLocks noGrp="1"/>
          </p:cNvSpPr>
          <p:nvPr>
            <p:ph type="subTitle"/>
          </p:nvPr>
        </p:nvSpPr>
        <p:spPr>
          <a:xfrm>
            <a:off x="457380" y="1174752"/>
            <a:ext cx="8229240" cy="3977280"/>
          </a:xfrm>
        </p:spPr>
        <p:txBody>
          <a:bodyPr/>
          <a:lstStyle/>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This study adopts a quantitative, survey-based research design. Survey methods are well-suited to capturing self-reported attitudes, behaviors and perceptions at scale, making them appropriate for exploring the breadth of AI tool usage patterns across a heterogeneous student population </a:t>
            </a:r>
          </a:p>
          <a:p>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 survey among students was conducted of the academic year 2023–2024. Participants were given a google form via linked shared among class groups from multiple departments like Computer Science, Mechanical Engineering, Business Administration and etc. Participation was entirely voluntary and consent was obtained from all participants prior to data collection.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1460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EB2EE-CEEA-A4EC-4F3B-60BA601304F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Results and Findings </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EA55B31-4F1F-B4B2-F83C-D53C041C6BCD}"/>
              </a:ext>
            </a:extLst>
          </p:cNvPr>
          <p:cNvSpPr>
            <a:spLocks noGrp="1" noChangeArrowheads="1"/>
          </p:cNvSpPr>
          <p:nvPr>
            <p:ph type="subTitle"/>
          </p:nvPr>
        </p:nvSpPr>
        <p:spPr bwMode="auto">
          <a:xfrm>
            <a:off x="173736" y="1205575"/>
            <a:ext cx="8796528" cy="4953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latin typeface="Times New Roman" panose="02020603050405020304" pitchFamily="18" charset="0"/>
                <a:cs typeface="Times New Roman" panose="02020603050405020304" pitchFamily="18" charset="0"/>
              </a:rPr>
              <a:t>The results are presented in three thematic clusters: </a:t>
            </a:r>
          </a:p>
          <a:p>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patterns of AI tool adoption </a:t>
            </a:r>
          </a:p>
          <a:p>
            <a:r>
              <a:rPr lang="en-US" sz="2000" dirty="0">
                <a:latin typeface="Times New Roman" panose="02020603050405020304" pitchFamily="18" charset="0"/>
                <a:cs typeface="Times New Roman" panose="02020603050405020304" pitchFamily="18" charset="0"/>
              </a:rPr>
              <a:t>(ii) perceived benefits of AI usage </a:t>
            </a:r>
          </a:p>
          <a:p>
            <a:r>
              <a:rPr lang="en-US" sz="2000" dirty="0">
                <a:latin typeface="Times New Roman" panose="02020603050405020304" pitchFamily="18" charset="0"/>
                <a:cs typeface="Times New Roman" panose="02020603050405020304" pitchFamily="18" charset="0"/>
              </a:rPr>
              <a:t>(iii) perceived challenges and risks.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majority of respondents reported positive effects of AI tool usage on their learning experience. 78% agreed or strongly agreed that AI tools save time on assignments, 80% agreed that AI helps them understand difficult topics more easily and 73% reported improved exam preparation. Several responses the personalized nature of AI explanations were a key benefit to the students, noticing that AI tools can explain to their current level of understanding that textbooks cannot. </a:t>
            </a:r>
          </a:p>
          <a:p>
            <a:r>
              <a:rPr lang="en-US" sz="2000" dirty="0">
                <a:latin typeface="Times New Roman" panose="02020603050405020304" pitchFamily="18" charset="0"/>
                <a:cs typeface="Times New Roman" panose="02020603050405020304" pitchFamily="18" charset="0"/>
              </a:rPr>
              <a:t>Despite these benefits, a substantial proportion of respondents acknowledged concerning patterns of AI dependence. Sixty-seven percent agreed or strongly agreed that over-dependence on AI tools is a genuine concern, and 58% reported that they sometimes submit AI-generated content without thoroughly reviewing or understanding it. Forty-two percent acknowledged that their use of AI has reduced their tendency to engage in independent problem-solving. </a:t>
            </a:r>
          </a:p>
          <a:p>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8233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5082B-13B5-9D83-7BAB-EFC94720715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FUTURE SCOPE </a:t>
            </a:r>
            <a:endParaRPr lang="en-IN" dirty="0">
              <a:latin typeface="Times New Roman" panose="02020603050405020304" pitchFamily="18" charset="0"/>
              <a:cs typeface="Times New Roman" panose="02020603050405020304" pitchFamily="18" charset="0"/>
            </a:endParaRPr>
          </a:p>
        </p:txBody>
      </p:sp>
      <p:sp>
        <p:nvSpPr>
          <p:cNvPr id="4" name="Subtitle 3">
            <a:extLst>
              <a:ext uri="{FF2B5EF4-FFF2-40B4-BE49-F238E27FC236}">
                <a16:creationId xmlns:a16="http://schemas.microsoft.com/office/drawing/2014/main" id="{F081DB36-865B-04B8-840C-F1E5D828C183}"/>
              </a:ext>
            </a:extLst>
          </p:cNvPr>
          <p:cNvSpPr>
            <a:spLocks noGrp="1"/>
          </p:cNvSpPr>
          <p:nvPr>
            <p:ph type="subTitle"/>
          </p:nvPr>
        </p:nvSpPr>
        <p:spPr>
          <a:xfrm>
            <a:off x="457380" y="1604520"/>
            <a:ext cx="8229240" cy="3977280"/>
          </a:xfrm>
        </p:spPr>
        <p:txBody>
          <a:bodyPr/>
          <a:lstStyle/>
          <a:p>
            <a:pPr marL="0" indent="0">
              <a:buNone/>
            </a:pPr>
            <a:endParaRPr lang="en-US" sz="18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increasing integration of Artificial Intelligence tools in higher education indicates that their influence on learning behavior will continue to grow in the coming years. Future research should investigate the long-term academic and cognitive effects of AI-assisted learning among students from diverse educational backgrounds. Studies involving multiple universities and larger datasets may provide a more comprehensive understanding of how AI tools influence critical thinking, creativity, problem-solving ability, and academic integrity. </a:t>
            </a:r>
          </a:p>
          <a:p>
            <a:r>
              <a:rPr lang="en-US" sz="2000" dirty="0">
                <a:latin typeface="Times New Roman" panose="02020603050405020304" pitchFamily="18" charset="0"/>
                <a:cs typeface="Times New Roman" panose="02020603050405020304" pitchFamily="18" charset="0"/>
              </a:rPr>
              <a:t>Another important direction for future work is the development of institutional guidelines and ethical frameworks regarding the responsible use of AI in education. Universities should focus on AI literacy programs that teach students how to use AI tools as learning assistants rather than as replacements for independent thinking. Faculty members should also receive training on redesigning assessments and assignments in ways that encourage analytical reasoning and originality. .</a:t>
            </a:r>
          </a:p>
          <a:p>
            <a:endParaRPr lang="en-IN" dirty="0">
              <a:latin typeface="Times New Roman" panose="02020603050405020304" pitchFamily="18" charset="0"/>
              <a:cs typeface="Times New Roman" panose="02020603050405020304" pitchFamily="18" charset="0"/>
            </a:endParaRPr>
          </a:p>
          <a:p>
            <a:endParaRPr lang="en-IN" sz="1800" dirty="0"/>
          </a:p>
        </p:txBody>
      </p:sp>
    </p:spTree>
    <p:extLst>
      <p:ext uri="{BB962C8B-B14F-4D97-AF65-F5344CB8AC3E}">
        <p14:creationId xmlns:p14="http://schemas.microsoft.com/office/powerpoint/2010/main" val="4006735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6BABC-E9B7-2038-5899-99B45360CA47}"/>
              </a:ext>
            </a:extLst>
          </p:cNvPr>
          <p:cNvSpPr>
            <a:spLocks noGrp="1"/>
          </p:cNvSpPr>
          <p:nvPr>
            <p:ph type="title"/>
          </p:nvPr>
        </p:nvSpPr>
        <p:spPr/>
        <p:txBody>
          <a:bodyPr/>
          <a:lstStyle/>
          <a:p>
            <a:r>
              <a:rPr lang="en-IN" b="1" dirty="0"/>
              <a:t>Conclusion</a:t>
            </a:r>
            <a:endParaRPr lang="en-IN" dirty="0"/>
          </a:p>
        </p:txBody>
      </p:sp>
      <p:sp>
        <p:nvSpPr>
          <p:cNvPr id="3" name="Subtitle 2">
            <a:extLst>
              <a:ext uri="{FF2B5EF4-FFF2-40B4-BE49-F238E27FC236}">
                <a16:creationId xmlns:a16="http://schemas.microsoft.com/office/drawing/2014/main" id="{3FAE159F-68EC-5E12-3A91-9CF5A9ADBEC1}"/>
              </a:ext>
            </a:extLst>
          </p:cNvPr>
          <p:cNvSpPr>
            <a:spLocks noGrp="1"/>
          </p:cNvSpPr>
          <p:nvPr>
            <p:ph type="subTitle"/>
          </p:nvPr>
        </p:nvSpPr>
        <p:spPr>
          <a:xfrm>
            <a:off x="457380" y="1622808"/>
            <a:ext cx="8229240" cy="3977280"/>
          </a:xfrm>
        </p:spPr>
        <p:txBody>
          <a:bodyPr/>
          <a:lstStyle/>
          <a:p>
            <a:r>
              <a:rPr lang="en-US" sz="2000" dirty="0">
                <a:latin typeface="Times New Roman" panose="02020603050405020304" pitchFamily="18" charset="0"/>
                <a:cs typeface="Times New Roman" panose="02020603050405020304" pitchFamily="18" charset="0"/>
              </a:rPr>
              <a:t>This study, the impact of AI tools on the learning behavior of college students through a survey </a:t>
            </a:r>
            <a:r>
              <a:rPr lang="en-US" sz="2000">
                <a:latin typeface="Times New Roman" panose="02020603050405020304" pitchFamily="18" charset="0"/>
                <a:cs typeface="Times New Roman" panose="02020603050405020304" pitchFamily="18" charset="0"/>
              </a:rPr>
              <a:t>of several </a:t>
            </a:r>
            <a:r>
              <a:rPr lang="en-US" sz="2000" dirty="0">
                <a:latin typeface="Times New Roman" panose="02020603050405020304" pitchFamily="18" charset="0"/>
                <a:cs typeface="Times New Roman" panose="02020603050405020304" pitchFamily="18" charset="0"/>
              </a:rPr>
              <a:t>participants across multiple streams. The findings demonstrate that AI tools have become deeply embedded in students academic practices as well as offering genuine benefits in terms of efficiency, conceptual accessibility and exam preparation. At the same time the data reveal concerns about dependence, more consumption and uncertainty that, if unaddressed, may undermine the long-term intellectual development of students. </a:t>
            </a:r>
          </a:p>
          <a:p>
            <a:r>
              <a:rPr lang="en-US" sz="2000" dirty="0">
                <a:latin typeface="Times New Roman" panose="02020603050405020304" pitchFamily="18" charset="0"/>
                <a:cs typeface="Times New Roman" panose="02020603050405020304" pitchFamily="18" charset="0"/>
              </a:rPr>
              <a:t>The study concludes that AI tools in education are most beneficial when they are used as active scaffolding that gradually transfers cognitive responsibility back to the learner – a process that must be intentionally designed into curricula and assessment practices. Universities should develop clear, evidence-based guidelines for AI use, train faculty to incorporate AI literacy into their teaching, and create assessment environments that reward the uniquely human cognitive skills critical analysis, synthesis, and creative problem-solving that AI tools cannot replicate.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029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35135</TotalTime>
  <Words>964</Words>
  <Application>Microsoft Office PowerPoint</Application>
  <PresentationFormat>On-screen Show (4:3)</PresentationFormat>
  <Paragraphs>61</Paragraphs>
  <Slides>8</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8</vt:i4>
      </vt:variant>
    </vt:vector>
  </HeadingPairs>
  <TitlesOfParts>
    <vt:vector size="13" baseType="lpstr">
      <vt:lpstr>Arial</vt:lpstr>
      <vt:lpstr>Calibri</vt:lpstr>
      <vt:lpstr>Times New Roman</vt:lpstr>
      <vt:lpstr>Office Theme</vt:lpstr>
      <vt:lpstr>c1</vt:lpstr>
      <vt:lpstr>PowerPoint Presentation</vt:lpstr>
      <vt:lpstr>PowerPoint Presentation</vt:lpstr>
      <vt:lpstr>Objectives</vt:lpstr>
      <vt:lpstr>METHODOLOGY</vt:lpstr>
      <vt:lpstr>Results and Findings </vt:lpstr>
      <vt:lpstr>FUTURE SCOPE </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Abhinav saini</cp:lastModifiedBy>
  <cp:revision>2310</cp:revision>
  <dcterms:created xsi:type="dcterms:W3CDTF">2010-04-09T07:36:15Z</dcterms:created>
  <dcterms:modified xsi:type="dcterms:W3CDTF">2026-05-18T05:37:53Z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